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3" r:id="rId4"/>
    <p:sldId id="264" r:id="rId5"/>
    <p:sldId id="260" r:id="rId6"/>
    <p:sldId id="261" r:id="rId7"/>
    <p:sldId id="262" r:id="rId8"/>
    <p:sldId id="916" r:id="rId9"/>
    <p:sldId id="9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F3D91-E332-40B1-8DA8-42002FCD7F20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B7E9E-AF69-457F-935B-2486FBB593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5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77D5-CAE4-8A09-E530-71958A434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DAA10-2E96-B54C-ACD4-AE1110AC6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625B6-94B6-2DD6-6349-C2AE4697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EECC5-FC66-AC9F-0BE9-54D45093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069C-1EF7-0CB2-CD97-9538D4C8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44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DA24-496D-2D97-F728-6BEAE862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B64E-4BF4-168B-BB37-61DCE495C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4FF7-7D56-1F52-04E8-EF8BF73B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5D88C-7B32-CD9A-CC76-477E9CEC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7AB61-9677-7552-11D2-0E063FFC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0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8B54-E589-746C-3800-A31E52BF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96705-96D0-19F4-6912-6178853C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27FA7-A2C3-6B2F-574D-424B3F8B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BC993-EA02-CE90-223B-82835B4BD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9B086-F9E9-18F1-5D44-A6E6C145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57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3953-AD58-10EB-BDFA-674FB039B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128A-08B8-1A47-C6E2-37BE9CEC7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236FD-4B9C-D87A-70B2-14EB9D295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BE17F-A7C4-62A3-74AA-2FD9B99D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0D371-4C45-BCA2-5929-868CEADF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2B867-3E59-9D53-95BF-1FD57800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27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04D8-6704-4845-C58A-BF5AA49A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18F6E-3FFA-C4B9-A120-D5812D3DB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79765-63B0-DABE-48B4-75136021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3FEA0-C5F7-7A28-7931-FD119E558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982EA-565F-33F7-A9CB-CB3013FB2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9B1F4-FEA1-9AE3-2A6A-E8D5932E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7A7BB-6A2A-24A7-91D9-E31D793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2CD31-6E26-6730-E238-B5965D7A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3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5190-B157-9DFB-84F4-1B3DA269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7097F2-3D9B-4D6C-D6C6-95688366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4D777-C856-59E8-4606-227FAD9E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963A7-4AA8-8968-D20C-A02725BF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76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4F8B7-C4C9-C0A3-0753-C27B7D1D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0F3CE-E30F-EFAC-1036-905401E7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CCD14-8B04-AB3A-1868-40EB95BE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66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6537-929C-2776-FCCB-2BA7699AC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64F40-E1BC-D0F6-36EB-49978EB4A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4555D-68F3-7199-97D2-2CB37D980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6DD3D-699A-88AE-F6F0-6B7F3A40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8D526-A422-0AF7-D29F-07FCEE5C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07411-5E5F-7A31-7AD7-AE2F7B81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88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76E9-0EB9-88CF-490B-D6A6069F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48778-8755-E2B6-5450-6BB9093E8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92BB1-193A-FBF8-23C1-4A383F785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08AC4-9FAC-56C7-D19B-EFA845B4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2EB97-9434-9712-6C0C-68CFD130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E9B1A-733A-601C-C489-8A4F7E83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13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F966-7F9F-A332-D6A8-9568FFF6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9731E-C1F5-0695-F1C9-0815314E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7C4DC-B706-1B44-20CD-580C0A6D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7DB9D-2837-77C6-B160-1623F00C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9C043-6D9D-6C2D-8066-481AF972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08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7492F-A31F-6DC8-6235-338CB7324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634A4-9737-68B4-0021-A659BBC30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57A10-0248-94B0-18BA-3878694C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78F1-EE60-9934-F06E-ED580F7C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D3BCD-82CA-A0AE-19A6-A260A645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1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65BFB-EFBA-9AE1-BF5F-34A960D9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F5AD2-2936-BEDA-AFBD-43A99563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F3034-E55C-CFEA-53DF-3DD056FDD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6B9C0-7B8B-4A21-A096-BBFA7C6CF787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A345-0907-B83B-AC4D-CEFC0E6B9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D6D53-7495-B530-9821-68DA54DC4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D7D09-F261-4A8E-B958-E045862B4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76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s/?skip=25&amp;take=25&amp;sort=desc&amp;orderBy=NumHits&amp;search=" TargetMode="External"/><Relationship Id="rId2" Type="http://schemas.openxmlformats.org/officeDocument/2006/relationships/hyperlink" Target="https://archive.ics.uci.ed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750A-675E-7866-DC3C-AED10D50B4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CSIT332</a:t>
            </a:r>
            <a:br>
              <a:rPr lang="en-IN" dirty="0"/>
            </a:br>
            <a:r>
              <a:rPr lang="en-IN" dirty="0"/>
              <a:t>Principles of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F9C94-13D2-D02D-106B-FF815A3BD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Manoranjan Dash</a:t>
            </a:r>
          </a:p>
        </p:txBody>
      </p:sp>
    </p:spTree>
    <p:extLst>
      <p:ext uri="{BB962C8B-B14F-4D97-AF65-F5344CB8AC3E}">
        <p14:creationId xmlns:p14="http://schemas.microsoft.com/office/powerpoint/2010/main" val="84780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980A-01F5-F879-34BD-AA5A66ED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172D6-9591-2E9F-568E-5A27E3F93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TITLE</a:t>
            </a:r>
          </a:p>
          <a:p>
            <a:pPr lvl="1"/>
            <a:r>
              <a:rPr lang="en-IN" dirty="0"/>
              <a:t>Hyperparameter sensitivity trends across dataset types in UCI ML repository (</a:t>
            </a:r>
            <a:r>
              <a:rPr lang="en-IN" dirty="0">
                <a:hlinkClick r:id="rId2"/>
              </a:rPr>
              <a:t>https://archive.ics.uci.edu/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22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28C1-E8CA-BA6A-D25D-1C418EB8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8301"/>
          </a:xfrm>
        </p:spPr>
        <p:txBody>
          <a:bodyPr/>
          <a:lstStyle/>
          <a:p>
            <a:r>
              <a:rPr lang="en-IN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A688-DFDE-FED5-9C19-C788FEB2F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469"/>
            <a:ext cx="10515600" cy="4463493"/>
          </a:xfrm>
        </p:spPr>
        <p:txBody>
          <a:bodyPr/>
          <a:lstStyle/>
          <a:p>
            <a:r>
              <a:rPr lang="en-US" dirty="0"/>
              <a:t>Description</a:t>
            </a:r>
          </a:p>
          <a:p>
            <a:pPr lvl="1"/>
            <a:r>
              <a:rPr lang="en-US" dirty="0"/>
              <a:t>Most UCI-benchmark papers report best results per dataset but don’t deeply explore how sensitive performance is to hyperparameter changes.</a:t>
            </a:r>
          </a:p>
          <a:p>
            <a:pPr lvl="2"/>
            <a:r>
              <a:rPr lang="en-US" dirty="0"/>
              <a:t>In real-world ML, choosing the “best” model often comes down not just to algorithm choice but to hyperparameter tuning sensitivity.</a:t>
            </a:r>
          </a:p>
          <a:p>
            <a:pPr lvl="2"/>
            <a:r>
              <a:rPr lang="en-US" dirty="0"/>
              <a:t>Some datasets are very forgiving (good results even with rough defaults), while others are highly sensitive (small changes → big accuracy swings).</a:t>
            </a:r>
          </a:p>
          <a:p>
            <a:pPr lvl="3"/>
            <a:r>
              <a:rPr lang="en-US" dirty="0"/>
              <a:t>Forgiving: Iris, Breast Cancer, Wine datasets</a:t>
            </a:r>
          </a:p>
          <a:p>
            <a:pPr lvl="3"/>
            <a:r>
              <a:rPr lang="en-US" dirty="0"/>
              <a:t>Unforgiving: Adult Census, Credit Card datasets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75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8554-857F-EE91-10D5-545C8861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299B1-728E-CF2E-D569-7BD77B87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/>
              <a:t>Identifying dataset characteristics that correlate with hyperparameter sensitivity could help practitioners choose tuning strategies more effectively.</a:t>
            </a:r>
          </a:p>
          <a:p>
            <a:pPr lvl="3"/>
            <a:r>
              <a:rPr lang="en-US" dirty="0"/>
              <a:t>If we know which characteristic of a data is more sensitive to parameter tuning, we will spend more time on those characteristics rather than wasting time in others</a:t>
            </a:r>
          </a:p>
          <a:p>
            <a:pPr lvl="3"/>
            <a:r>
              <a:rPr lang="en-US" dirty="0"/>
              <a:t>Examples</a:t>
            </a:r>
          </a:p>
          <a:p>
            <a:pPr lvl="4"/>
            <a:r>
              <a:rPr lang="en-US" dirty="0"/>
              <a:t>Dataset Size: Small (more sensitive), Large (less sensitive)</a:t>
            </a:r>
          </a:p>
          <a:p>
            <a:pPr lvl="5"/>
            <a:r>
              <a:rPr lang="en-US" dirty="0"/>
              <a:t>Sensitive to what?</a:t>
            </a:r>
          </a:p>
          <a:p>
            <a:pPr lvl="6"/>
            <a:r>
              <a:rPr lang="en-US" dirty="0"/>
              <a:t>We will discuss more on this later as it requires more understanding</a:t>
            </a:r>
          </a:p>
          <a:p>
            <a:pPr lvl="4"/>
            <a:r>
              <a:rPr lang="en-US" dirty="0"/>
              <a:t>Dimensionality: High (more sensitive), Low (less sensitive)</a:t>
            </a:r>
          </a:p>
          <a:p>
            <a:pPr lvl="4"/>
            <a:r>
              <a:rPr lang="en-US" dirty="0"/>
              <a:t>Class Imbalance</a:t>
            </a:r>
          </a:p>
          <a:p>
            <a:pPr lvl="4"/>
            <a:r>
              <a:rPr lang="en-US" dirty="0"/>
              <a:t>Noise</a:t>
            </a:r>
          </a:p>
          <a:p>
            <a:pPr lvl="4"/>
            <a:r>
              <a:rPr lang="en-US" dirty="0"/>
              <a:t>Nonlinear decision boundary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36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C85D-A3BC-9C65-F9AF-EF7A96D7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UCI ML repository (</a:t>
            </a:r>
            <a:r>
              <a:rPr lang="en-IN" dirty="0">
                <a:hlinkClick r:id="rId2"/>
              </a:rPr>
              <a:t>https://archive.ics.uci.edu/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AE2F-AE96-7090-EAEC-B03A36631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682 datasets</a:t>
            </a:r>
          </a:p>
          <a:p>
            <a:pPr lvl="1"/>
            <a:r>
              <a:rPr lang="en-IN" dirty="0"/>
              <a:t>But not all may be suitable for classification</a:t>
            </a:r>
          </a:p>
          <a:p>
            <a:pPr lvl="2"/>
            <a:r>
              <a:rPr lang="en-IN" dirty="0"/>
              <a:t>Some are for regression, some for clustering</a:t>
            </a:r>
          </a:p>
          <a:p>
            <a:r>
              <a:rPr lang="en-IN" dirty="0"/>
              <a:t>Each student will be given a minimum number of datasets to study the hyperparameter sensitivity</a:t>
            </a:r>
          </a:p>
          <a:p>
            <a:pPr lvl="1"/>
            <a:r>
              <a:rPr lang="en-IN" dirty="0"/>
              <a:t>One can do more</a:t>
            </a:r>
          </a:p>
          <a:p>
            <a:pPr lvl="1"/>
            <a:r>
              <a:rPr lang="en-IN" dirty="0"/>
              <a:t>Quality must be good for each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47020-5A44-FCDE-3FFE-96E41BCEB481}"/>
              </a:ext>
            </a:extLst>
          </p:cNvPr>
          <p:cNvSpPr txBox="1"/>
          <p:nvPr/>
        </p:nvSpPr>
        <p:spPr>
          <a:xfrm>
            <a:off x="838200" y="5073041"/>
            <a:ext cx="2873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hlinkClick r:id="rId3"/>
              </a:rPr>
              <a:t>List of datasets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1645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6F6C-565B-A8E9-BD56-24D4752F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Hyperparameter?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6BA7-5306-6CC5-9BBF-7E0E146E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 are the variables optimized by the training algorithm.</a:t>
            </a:r>
          </a:p>
          <a:p>
            <a:r>
              <a:rPr lang="en-US" dirty="0"/>
              <a:t>Hyperparameters are “above” them — they define the configuration space in which parameter optimization happens.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Parameters = the weights and biases of the connections between neurons.</a:t>
            </a:r>
          </a:p>
          <a:p>
            <a:pPr lvl="2"/>
            <a:r>
              <a:rPr lang="en-US" dirty="0"/>
              <a:t>These are learned/updated automatically during training (via backpropagation + gradient descent).</a:t>
            </a:r>
          </a:p>
          <a:p>
            <a:pPr lvl="1"/>
            <a:r>
              <a:rPr lang="en-US" dirty="0"/>
              <a:t>Hyperparameters = external settings that control the training process.</a:t>
            </a:r>
          </a:p>
          <a:p>
            <a:pPr lvl="2"/>
            <a:r>
              <a:rPr lang="en-US" dirty="0"/>
              <a:t>Examples: learning rate, batch size, number of epochs, optimizer type, number of hidden layers, number of neurons per layer, dropout rate,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10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94EE-5D6B-B6F7-798E-E36B8DB0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sensitivity to hyperparameter?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4AD8-FCFD-2D19-E942-572F3D8CB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is said to be sensitive to a hyperparameter if small changes in that hyperparameter (e.g., learning rate = 0.01 vs. 0.02) cause large differences in performance (accuracy, loss, etc.).</a:t>
            </a:r>
          </a:p>
          <a:p>
            <a:r>
              <a:rPr lang="en-US" dirty="0"/>
              <a:t>Conversely, a model is robust (or insensitive) to a hyperparameter if performance stays stable over a wide range of its values.</a:t>
            </a:r>
          </a:p>
          <a:p>
            <a:r>
              <a:rPr lang="en-US" dirty="0"/>
              <a:t>How to measure it?</a:t>
            </a:r>
          </a:p>
          <a:p>
            <a:pPr lvl="1"/>
            <a:r>
              <a:rPr lang="en-US" dirty="0"/>
              <a:t>Variance of, say, accuracy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30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523F5D-E176-5AD0-4BB0-BC4023B12A5A}"/>
              </a:ext>
            </a:extLst>
          </p:cNvPr>
          <p:cNvSpPr txBox="1"/>
          <p:nvPr/>
        </p:nvSpPr>
        <p:spPr>
          <a:xfrm>
            <a:off x="3031524" y="428368"/>
            <a:ext cx="3607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PROJECT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AAEA3-28D5-7521-8271-502F0B65DCE0}"/>
              </a:ext>
            </a:extLst>
          </p:cNvPr>
          <p:cNvSpPr txBox="1"/>
          <p:nvPr/>
        </p:nvSpPr>
        <p:spPr>
          <a:xfrm>
            <a:off x="3781168" y="1301578"/>
            <a:ext cx="2451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Each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396B3-C954-CBD6-0D30-6C2E326DEDF3}"/>
              </a:ext>
            </a:extLst>
          </p:cNvPr>
          <p:cNvSpPr txBox="1"/>
          <p:nvPr/>
        </p:nvSpPr>
        <p:spPr>
          <a:xfrm>
            <a:off x="3472244" y="2154196"/>
            <a:ext cx="3194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Perform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D98B0-DA1D-2243-9A50-E17970B8FAD2}"/>
              </a:ext>
            </a:extLst>
          </p:cNvPr>
          <p:cNvSpPr txBox="1"/>
          <p:nvPr/>
        </p:nvSpPr>
        <p:spPr>
          <a:xfrm>
            <a:off x="3744095" y="3010934"/>
            <a:ext cx="2667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Each Classifier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E907D-7202-23E7-C585-3B553A165BA0}"/>
              </a:ext>
            </a:extLst>
          </p:cNvPr>
          <p:cNvSpPr txBox="1"/>
          <p:nvPr/>
        </p:nvSpPr>
        <p:spPr>
          <a:xfrm>
            <a:off x="1659919" y="3842952"/>
            <a:ext cx="776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Each Hyperparameter Create a List of Possible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E25F5-408A-41CB-2242-6668D5381737}"/>
              </a:ext>
            </a:extLst>
          </p:cNvPr>
          <p:cNvSpPr txBox="1"/>
          <p:nvPr/>
        </p:nvSpPr>
        <p:spPr>
          <a:xfrm>
            <a:off x="934990" y="4732635"/>
            <a:ext cx="10250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Perform </a:t>
            </a:r>
            <a:r>
              <a:rPr lang="en-IN" sz="2400" dirty="0" err="1"/>
              <a:t>GridSearch</a:t>
            </a:r>
            <a:r>
              <a:rPr lang="en-IN" sz="2400" dirty="0"/>
              <a:t> and report sensitivity (variance for each hyperparameter)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C651A-871F-9B98-CCBD-30A07D5A3F20}"/>
              </a:ext>
            </a:extLst>
          </p:cNvPr>
          <p:cNvSpPr txBox="1"/>
          <p:nvPr/>
        </p:nvSpPr>
        <p:spPr>
          <a:xfrm>
            <a:off x="786706" y="5597610"/>
            <a:ext cx="10848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Analyze</a:t>
            </a:r>
            <a:r>
              <a:rPr lang="en-IN" sz="2400" dirty="0"/>
              <a:t> sensitivities across hyperparameters, across classifiers, across datasets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61821-F9F4-DDB4-627F-1D72F00F1B3D}"/>
              </a:ext>
            </a:extLst>
          </p:cNvPr>
          <p:cNvCxnSpPr>
            <a:cxnSpLocks/>
          </p:cNvCxnSpPr>
          <p:nvPr/>
        </p:nvCxnSpPr>
        <p:spPr>
          <a:xfrm>
            <a:off x="4835255" y="815546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8DAF89-AC3F-CBD3-24A0-FA5D85B6819C}"/>
              </a:ext>
            </a:extLst>
          </p:cNvPr>
          <p:cNvCxnSpPr>
            <a:cxnSpLocks/>
          </p:cNvCxnSpPr>
          <p:nvPr/>
        </p:nvCxnSpPr>
        <p:spPr>
          <a:xfrm>
            <a:off x="4834899" y="1626973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C4D2DA-9819-44DF-9E92-BAD9B622D120}"/>
              </a:ext>
            </a:extLst>
          </p:cNvPr>
          <p:cNvCxnSpPr>
            <a:cxnSpLocks/>
          </p:cNvCxnSpPr>
          <p:nvPr/>
        </p:nvCxnSpPr>
        <p:spPr>
          <a:xfrm>
            <a:off x="4834899" y="2512541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206795-EBDE-A9EB-D0A8-164F967D5AF0}"/>
              </a:ext>
            </a:extLst>
          </p:cNvPr>
          <p:cNvCxnSpPr>
            <a:cxnSpLocks/>
          </p:cNvCxnSpPr>
          <p:nvPr/>
        </p:nvCxnSpPr>
        <p:spPr>
          <a:xfrm>
            <a:off x="4834899" y="3315730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20A25C-F46E-DC4F-5841-BDF345AF45ED}"/>
              </a:ext>
            </a:extLst>
          </p:cNvPr>
          <p:cNvCxnSpPr>
            <a:cxnSpLocks/>
          </p:cNvCxnSpPr>
          <p:nvPr/>
        </p:nvCxnSpPr>
        <p:spPr>
          <a:xfrm>
            <a:off x="4834899" y="4184822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F66E56-070A-8A4F-EE0F-6865DE3231E3}"/>
              </a:ext>
            </a:extLst>
          </p:cNvPr>
          <p:cNvCxnSpPr>
            <a:cxnSpLocks/>
          </p:cNvCxnSpPr>
          <p:nvPr/>
        </p:nvCxnSpPr>
        <p:spPr>
          <a:xfrm>
            <a:off x="4839018" y="5086865"/>
            <a:ext cx="0" cy="66744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09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1D4EC-D21D-8D4F-B778-6562CE22A462}"/>
              </a:ext>
            </a:extLst>
          </p:cNvPr>
          <p:cNvSpPr txBox="1"/>
          <p:nvPr/>
        </p:nvSpPr>
        <p:spPr>
          <a:xfrm>
            <a:off x="3031524" y="428368"/>
            <a:ext cx="3136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PROJECT TIMELINE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AD1E77-8F65-304A-F8D6-A448A6668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866752"/>
              </p:ext>
            </p:extLst>
          </p:nvPr>
        </p:nvGraphicFramePr>
        <p:xfrm>
          <a:off x="1340022" y="1265681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773">
                  <a:extLst>
                    <a:ext uri="{9D8B030D-6E8A-4147-A177-3AD203B41FA5}">
                      <a16:colId xmlns:a16="http://schemas.microsoft.com/office/drawing/2014/main" val="600846044"/>
                    </a:ext>
                  </a:extLst>
                </a:gridCol>
                <a:gridCol w="5942227">
                  <a:extLst>
                    <a:ext uri="{9D8B030D-6E8A-4147-A177-3AD203B41FA5}">
                      <a16:colId xmlns:a16="http://schemas.microsoft.com/office/drawing/2014/main" val="98871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565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  <a:r>
                        <a:rPr lang="en-IN" baseline="30000" dirty="0"/>
                        <a:t>st</a:t>
                      </a:r>
                      <a:r>
                        <a:rPr lang="en-IN" dirty="0"/>
                        <a:t> 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Groups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7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Initial set of datasets assigned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48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First set of results (for one dataset)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691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Verified First set of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39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Sensitivity Comparison across initial set of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87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Oct-29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as many datasets as you 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4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  <a:r>
                        <a:rPr lang="en-IN" baseline="30000" dirty="0"/>
                        <a:t>th</a:t>
                      </a:r>
                      <a:r>
                        <a:rPr lang="en-IN" dirty="0"/>
                        <a:t> Dec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Submission (Tentative) followed by Viva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708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38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560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CSIT332 Principles of Machine Learning</vt:lpstr>
      <vt:lpstr>Project</vt:lpstr>
      <vt:lpstr>Project</vt:lpstr>
      <vt:lpstr>Project</vt:lpstr>
      <vt:lpstr>UCI ML repository (https://archive.ics.uci.edu/)</vt:lpstr>
      <vt:lpstr>What is Hyperparameter?</vt:lpstr>
      <vt:lpstr>What is sensitivity to hyperparameter?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Office365 176</dc:creator>
  <cp:lastModifiedBy>Office365 176</cp:lastModifiedBy>
  <cp:revision>11</cp:revision>
  <dcterms:created xsi:type="dcterms:W3CDTF">2025-08-18T09:25:57Z</dcterms:created>
  <dcterms:modified xsi:type="dcterms:W3CDTF">2025-08-21T04:51:17Z</dcterms:modified>
</cp:coreProperties>
</file>